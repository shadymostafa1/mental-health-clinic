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10972800"/>
  <p:notesSz cx="10972800" cy="14630400"/>
  <p:embeddedFontLst>
    <p:embeddedFont>
      <p:font typeface="Inconsolata" pitchFamily="1" charset="0"/>
      <p:regular r:id="rId13"/>
    </p:embeddedFont>
    <p:embeddedFont>
      <p:font typeface="Montserrat Black" panose="00000A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5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10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audio" Target="../media/audio1.wav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11" Type="http://schemas.openxmlformats.org/officeDocument/2006/relationships/audio" Target="../media/audio1.wav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audio" Target="../media/audio1.wav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audio" Target="../media/audio1.wav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svg"/><Relationship Id="rId11" Type="http://schemas.openxmlformats.org/officeDocument/2006/relationships/audio" Target="../media/audio1.wav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087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Marketing Environment Analysis — Mental Health Clinic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1752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Low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Field-ready formulations for therapeutic sessions, counseling programs, and a strategic marketing framework tailored to a confidential, evidence-based clinic.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5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821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Internal Environment — Identity &amp; Services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29401"/>
            <a:ext cx="1205984" cy="1507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4729401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Therapeutic Identity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5574149"/>
            <a:ext cx="266914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Evidence-based psychotherapy, integrative care (individual, family, preventive training) in a safe, confidential setting.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4729401"/>
            <a:ext cx="1205984" cy="1507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4729401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Professional Staff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5574149"/>
            <a:ext cx="2669143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Licensed psychiatrists, psychologists, and specialist coaches—therapeutic alliance is central to outcomes.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995" y="4729401"/>
            <a:ext cx="1205984" cy="1507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4729401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Counseling &amp; Training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5574149"/>
            <a:ext cx="2669143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Workshops: stress management, positive parenting, pre-marital courses, EQ and burnout prevention.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7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832" y="587573"/>
            <a:ext cx="13134737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Internal Environment — Clinical Services &amp; Pricing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32" y="4704040"/>
            <a:ext cx="1782723" cy="1101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7832" y="6057424"/>
            <a:ext cx="2671048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Clinical Services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47832" y="6592372"/>
            <a:ext cx="4051697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Individual adult therapy, child/adolescent therapy, family/marital counseling, PTSD treatment, standardized assessments.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108" y="4704040"/>
            <a:ext cx="1782723" cy="11018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51108" y="6057424"/>
            <a:ext cx="2671048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Digital &amp; Pricing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051108" y="6592372"/>
            <a:ext cx="4051816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Online booking and teletherapy with tiered pricing, discounted packages, and affordable online service options.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799" y="2451378"/>
            <a:ext cx="4258270" cy="5677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31799" y="8355449"/>
            <a:ext cx="2671048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Location &amp; UX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631799" y="8890397"/>
            <a:ext cx="4258270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Chosen for accessibility, privacy, and tranquility; reception staff trained in clinical sensitivity to protect client psychological safety.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7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481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Micro-Environment — Audience &amp; Referrals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390584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3905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4396264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Adults (20–45), couples, families, children, students, professionals, engaged couples, self-development seekers.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0190" y="557569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557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Referral Sources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6066115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Schools, GPs/specialists, corporations, rehab centers, NGOs—professional networks drive quality referrals.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0190" y="724554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724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Competitors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7735967"/>
            <a:ext cx="670595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Direct: private clinics and therapists. Indirect: life coaches, religious counselors, free online content, mental health apps.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11" name="chimes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948"/>
            <a:ext cx="126481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Macro-Environment — PESTEL Highlights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083356"/>
            <a:ext cx="13042821" cy="7350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2297" y="2720257"/>
            <a:ext cx="2415710" cy="36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Political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102297" y="3184446"/>
            <a:ext cx="2415710" cy="57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Policy, funding, public awareness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24922" y="2720257"/>
            <a:ext cx="2402860" cy="36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Economic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1124922" y="3184446"/>
            <a:ext cx="2402860" cy="57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Cost sensitivity and reimbursement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92444" y="7729963"/>
            <a:ext cx="2325763" cy="361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Socio-cultural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92444" y="8194152"/>
            <a:ext cx="2325763" cy="57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Stigma versus mental health literacy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047824" y="7729963"/>
            <a:ext cx="2479957" cy="361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Technological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1047824" y="8194152"/>
            <a:ext cx="2479957" cy="578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Teletherapy and digital tools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3790" y="96889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factor shapes demand, delivery options, legal obligations, and the clinic’s strategic priorities.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5" name="chimes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345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SWOT Snapshot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83537"/>
            <a:ext cx="2367558" cy="4942642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2817971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08390"/>
            <a:ext cx="189869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Qualified staff, hybrid delivery, integrated services, trust &amp; privacy, niche expertise in anxiety/depression.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4562" y="2583537"/>
            <a:ext cx="2367558" cy="4942642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08996" y="2817971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08996" y="3662720"/>
            <a:ext cx="189869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Stigma barriers, brand tied to individuals, high overhead, scalability limits, price sensitivity.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933" y="2583537"/>
            <a:ext cx="2367558" cy="4942642"/>
          </a:xfrm>
          <a:prstGeom prst="roundRect">
            <a:avLst>
              <a:gd name="adj" fmla="val 38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703368" y="2817971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3368" y="3662720"/>
            <a:ext cx="1898690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Rising awareness, corporate wellness programs, digital reach, educational workshops, diaspora markets.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7752993"/>
            <a:ext cx="7556302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14624" y="79874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Threats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14624" y="8477845"/>
            <a:ext cx="70874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Fragmented competition, unqualified substitutes, economic volatility, reputational risks.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5" name="chimes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63133"/>
            <a:ext cx="6443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Marketing Mix — 7Ps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4212074"/>
            <a:ext cx="4531876" cy="3597593"/>
          </a:xfrm>
          <a:prstGeom prst="roundRect">
            <a:avLst>
              <a:gd name="adj" fmla="val 254"/>
            </a:avLst>
          </a:prstGeom>
          <a:solidFill>
            <a:srgbClr val="151617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44388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5020032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Product: Evidence-based psychotherapy and scientific counseling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6312813"/>
            <a:ext cx="40782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Price: Tiered, session-length based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6879788"/>
            <a:ext cx="40782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Place: Physical clinic + online platforms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559981" y="44388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Support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59981" y="5020032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Promotion: Awareness content, seminars, targeted digital campaigns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559981" y="5587008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People: Specialized clinical team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59981" y="6153983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Process &amp; Physical Evidence: Confidential booking, calm therapeutic environment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4" name="chimes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7556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Strategy — STP &amp; Positioning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461623"/>
            <a:ext cx="226814" cy="22681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3788331"/>
            <a:ext cx="36647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2"/>
          <p:cNvSpPr/>
          <p:nvPr/>
        </p:nvSpPr>
        <p:spPr>
          <a:xfrm>
            <a:off x="793790" y="3962638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Segmentation &amp; Targeting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4807387"/>
            <a:ext cx="366474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Segment by age, psychographic readiness, behavior, and geography; primary: urban adults 20–45, secondary: couples, parents, professionals, students.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5348" y="3461623"/>
            <a:ext cx="226814" cy="22681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85348" y="3788331"/>
            <a:ext cx="36648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5"/>
          <p:cNvSpPr/>
          <p:nvPr/>
        </p:nvSpPr>
        <p:spPr>
          <a:xfrm>
            <a:off x="4685348" y="39626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Positioning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685348" y="4453057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Evidence-based, confidential, hybrid delivery; integrates therapy with preventive programs and cultural sensitivity.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7409974"/>
            <a:ext cx="226814" cy="22681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93790" y="7736681"/>
            <a:ext cx="7556421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8"/>
          <p:cNvSpPr/>
          <p:nvPr/>
        </p:nvSpPr>
        <p:spPr>
          <a:xfrm>
            <a:off x="793790" y="7910989"/>
            <a:ext cx="3540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Value &amp; Differentiation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84014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 confidentiality, licensed expertise, modern methodology, and non-judgmental care.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11" name="chimes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51396"/>
            <a:ext cx="1039308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 &amp; Tactics — SOSTAC Execution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1116925" y="5070515"/>
            <a:ext cx="6095762" cy="215384"/>
          </a:xfrm>
          <a:prstGeom prst="roundRect">
            <a:avLst>
              <a:gd name="adj" fmla="val 424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93790" y="4854952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5358" y="5016520"/>
            <a:ext cx="323136" cy="3231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174" y="57060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Situation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09174" y="6165413"/>
            <a:ext cx="598824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Latent demand but stigma lowers actual uptake; strengths include licensed staff and hybrid services.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740610" y="4747379"/>
            <a:ext cx="6095881" cy="215384"/>
          </a:xfrm>
          <a:prstGeom prst="roundRect">
            <a:avLst>
              <a:gd name="adj" fmla="val 424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17475" y="4531816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9043" y="4693384"/>
            <a:ext cx="323136" cy="3231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2859" y="538293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Objectives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7632859" y="5842278"/>
            <a:ext cx="59883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6–12 months: +30% new clients, 70% occupancy, stronger digital presence, launch 3–5 group programs.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1116925" y="7796332"/>
            <a:ext cx="6095762" cy="215384"/>
          </a:xfrm>
          <a:prstGeom prst="roundRect">
            <a:avLst>
              <a:gd name="adj" fmla="val 424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93790" y="7580769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5358" y="7742337"/>
            <a:ext cx="323136" cy="3231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9174" y="843188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Strategy &amp; Tactics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009174" y="8891230"/>
            <a:ext cx="598824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Trust-first content, SEO, short videos, community workshops, corporate partnerships, discovery sessions, subsidized packages.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7740610" y="7473196"/>
            <a:ext cx="6095881" cy="215384"/>
          </a:xfrm>
          <a:prstGeom prst="roundRect">
            <a:avLst>
              <a:gd name="adj" fmla="val 424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417475" y="7257633"/>
            <a:ext cx="646390" cy="646390"/>
          </a:xfrm>
          <a:prstGeom prst="roundRect">
            <a:avLst>
              <a:gd name="adj" fmla="val 70731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79043" y="7419201"/>
            <a:ext cx="323136" cy="3231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32859" y="810875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Action &amp; Control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7632859" y="8568095"/>
            <a:ext cx="59883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Assign marketing coordinator, CRM, monthly content calendar, KPIs: volume, occupancy, CSAT, CAC vs LTV.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13" name="chimes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1799"/>
            <a:ext cx="106031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AIDA &amp; Communication Templates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124206"/>
            <a:ext cx="914876" cy="9148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2154" y="4124206"/>
            <a:ext cx="2896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Attention — Hooks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92154" y="4614624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relatable lines: "Do you feel constant tension?" "You are not alone."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4124206"/>
            <a:ext cx="914876" cy="9148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4257" y="4124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Interest → Desire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34257" y="4614624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Explain treatability, confidentiality, licensed team, in-person or secure online options.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995" y="4124206"/>
            <a:ext cx="914876" cy="9148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76359" y="4124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Action — CTAs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876359" y="4614624"/>
            <a:ext cx="2960251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Clear CTAs: Book your appointment, Start your recovery, Contact us in confidence, Register for programs.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684288"/>
            <a:ext cx="13042821" cy="1326713"/>
          </a:xfrm>
          <a:prstGeom prst="roundRect">
            <a:avLst>
              <a:gd name="adj" fmla="val 689"/>
            </a:avLst>
          </a:prstGeom>
          <a:solidFill>
            <a:srgbClr val="D7D9D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7020758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967776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Concluding summary: Build trust, destigmatize through education, offer tiered pricing and hybrid access to convert latent demand into sustainable client relationships.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3" name="chimes.wav"/>
          </p:stSnd>
        </p:sndAc>
      </p:transition>
    </mc:Choice>
    <mc:Fallback xmlns="">
      <p:transition spd="med">
        <p:fade/>
        <p:sndAc>
          <p:stSnd>
            <p:snd r:embed="rId8" name="chimes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668</Words>
  <Application>Microsoft Office PowerPoint</Application>
  <PresentationFormat>Custom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Inconsolata</vt:lpstr>
      <vt:lpstr>Montserrat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dr.hany saad</cp:lastModifiedBy>
  <cp:revision>3</cp:revision>
  <dcterms:created xsi:type="dcterms:W3CDTF">2026-02-21T17:13:05Z</dcterms:created>
  <dcterms:modified xsi:type="dcterms:W3CDTF">2026-02-21T19:40:41Z</dcterms:modified>
</cp:coreProperties>
</file>